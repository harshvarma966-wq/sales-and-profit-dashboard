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varma25032005@outlook.com" userId="3e42205020987a60" providerId="LiveId" clId="{0251AB40-04CC-495C-9DFA-88AD66CA0D10}"/>
    <pc:docChg chg="undo custSel addSld delSld modSld">
      <pc:chgData name="harshvarma25032005@outlook.com" userId="3e42205020987a60" providerId="LiveId" clId="{0251AB40-04CC-495C-9DFA-88AD66CA0D10}" dt="2025-11-30T09:44:27.144" v="39" actId="14100"/>
      <pc:docMkLst>
        <pc:docMk/>
      </pc:docMkLst>
      <pc:sldChg chg="new del modNotesTx">
        <pc:chgData name="harshvarma25032005@outlook.com" userId="3e42205020987a60" providerId="LiveId" clId="{0251AB40-04CC-495C-9DFA-88AD66CA0D10}" dt="2025-11-30T09:41:47.926" v="5" actId="47"/>
        <pc:sldMkLst>
          <pc:docMk/>
          <pc:sldMk cId="43222961" sldId="267"/>
        </pc:sldMkLst>
      </pc:sldChg>
      <pc:sldChg chg="modSp new mod">
        <pc:chgData name="harshvarma25032005@outlook.com" userId="3e42205020987a60" providerId="LiveId" clId="{0251AB40-04CC-495C-9DFA-88AD66CA0D10}" dt="2025-11-30T09:44:27.144" v="39" actId="14100"/>
        <pc:sldMkLst>
          <pc:docMk/>
          <pc:sldMk cId="726886064" sldId="267"/>
        </pc:sldMkLst>
        <pc:spChg chg="mod">
          <ac:chgData name="harshvarma25032005@outlook.com" userId="3e42205020987a60" providerId="LiveId" clId="{0251AB40-04CC-495C-9DFA-88AD66CA0D10}" dt="2025-11-30T09:44:27.144" v="39" actId="14100"/>
          <ac:spMkLst>
            <pc:docMk/>
            <pc:sldMk cId="726886064" sldId="267"/>
            <ac:spMk id="2" creationId="{A2D9864C-1403-5F2B-93E3-40A662D08EB3}"/>
          </ac:spMkLst>
        </pc:spChg>
      </pc:sldChg>
      <pc:sldChg chg="new del">
        <pc:chgData name="harshvarma25032005@outlook.com" userId="3e42205020987a60" providerId="LiveId" clId="{0251AB40-04CC-495C-9DFA-88AD66CA0D10}" dt="2025-11-30T09:40:38.811" v="1" actId="47"/>
        <pc:sldMkLst>
          <pc:docMk/>
          <pc:sldMk cId="4137633739" sldId="26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066CC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94924.87</c:v>
                </c:pt>
                <c:pt idx="1">
                  <c:v>59640.160000000003</c:v>
                </c:pt>
                <c:pt idx="2">
                  <c:v>205005.51</c:v>
                </c:pt>
                <c:pt idx="3">
                  <c:v>137480.79</c:v>
                </c:pt>
                <c:pt idx="4">
                  <c:v>155028.82999999999</c:v>
                </c:pt>
                <c:pt idx="5">
                  <c:v>152718.72</c:v>
                </c:pt>
                <c:pt idx="6">
                  <c:v>147238.10999999999</c:v>
                </c:pt>
                <c:pt idx="7">
                  <c:v>159043.99</c:v>
                </c:pt>
                <c:pt idx="8">
                  <c:v>219783.3</c:v>
                </c:pt>
                <c:pt idx="9">
                  <c:v>122546.06999999999</c:v>
                </c:pt>
                <c:pt idx="10">
                  <c:v>234013.28</c:v>
                </c:pt>
                <c:pt idx="11">
                  <c:v>241464.23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AE1-4F12-9973-685CBFCD88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228B22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9134.48</c:v>
                </c:pt>
                <c:pt idx="1">
                  <c:v>10286.290000000001</c:v>
                </c:pt>
                <c:pt idx="2">
                  <c:v>28594.639999999999</c:v>
                </c:pt>
                <c:pt idx="3">
                  <c:v>11599.63</c:v>
                </c:pt>
                <c:pt idx="4">
                  <c:v>22411.360000000001</c:v>
                </c:pt>
                <c:pt idx="5">
                  <c:v>21285.87</c:v>
                </c:pt>
                <c:pt idx="6">
                  <c:v>13832.75</c:v>
                </c:pt>
                <c:pt idx="7">
                  <c:v>21777.07</c:v>
                </c:pt>
                <c:pt idx="8">
                  <c:v>25865.93</c:v>
                </c:pt>
                <c:pt idx="9">
                  <c:v>22508.82</c:v>
                </c:pt>
                <c:pt idx="10">
                  <c:v>25778.400000000001</c:v>
                </c:pt>
                <c:pt idx="11">
                  <c:v>34885.83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FE6-4714-B2ED-74F4416A13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066CC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94924.87</c:v>
                </c:pt>
                <c:pt idx="1">
                  <c:v>59640.160000000003</c:v>
                </c:pt>
                <c:pt idx="2">
                  <c:v>205005.51</c:v>
                </c:pt>
                <c:pt idx="3">
                  <c:v>137480.79</c:v>
                </c:pt>
                <c:pt idx="4">
                  <c:v>155028.82999999999</c:v>
                </c:pt>
                <c:pt idx="5">
                  <c:v>152718.72</c:v>
                </c:pt>
                <c:pt idx="6">
                  <c:v>147238.10999999999</c:v>
                </c:pt>
                <c:pt idx="7">
                  <c:v>159043.99</c:v>
                </c:pt>
                <c:pt idx="8">
                  <c:v>219783.3</c:v>
                </c:pt>
                <c:pt idx="9">
                  <c:v>122546.06999999999</c:v>
                </c:pt>
                <c:pt idx="10">
                  <c:v>234013.28</c:v>
                </c:pt>
                <c:pt idx="11">
                  <c:v>241464.23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FEB-4CA7-A91B-AF329113B0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228B22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9134.48</c:v>
                </c:pt>
                <c:pt idx="1">
                  <c:v>10286.290000000001</c:v>
                </c:pt>
                <c:pt idx="2">
                  <c:v>28594.639999999999</c:v>
                </c:pt>
                <c:pt idx="3">
                  <c:v>11599.63</c:v>
                </c:pt>
                <c:pt idx="4">
                  <c:v>22411.360000000001</c:v>
                </c:pt>
                <c:pt idx="5">
                  <c:v>21285.87</c:v>
                </c:pt>
                <c:pt idx="6">
                  <c:v>13832.75</c:v>
                </c:pt>
                <c:pt idx="7">
                  <c:v>21777.07</c:v>
                </c:pt>
                <c:pt idx="8">
                  <c:v>25865.93</c:v>
                </c:pt>
                <c:pt idx="9">
                  <c:v>22508.82</c:v>
                </c:pt>
                <c:pt idx="10">
                  <c:v>25778.400000000001</c:v>
                </c:pt>
                <c:pt idx="11">
                  <c:v>34885.83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FEB-4CA7-A91B-AF329113B0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C3839-A854-47AA-8139-B01A41D2390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E421A9-9974-4D81-8BF7-A961C5289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694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47643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974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8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48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3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1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76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2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605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3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2505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10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76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24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2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5362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7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1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800" b="1">
                <a:solidFill>
                  <a:srgbClr val="0066CC"/>
                </a:solidFill>
              </a:defRPr>
            </a:pPr>
            <a:r>
              <a:t>Sales &amp; Profit Dashboard – Detailed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0284" y="4729316"/>
            <a:ext cx="5427406" cy="90948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PPT by Harsh Varma</a:t>
            </a:r>
            <a:endParaRPr sz="40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66CC"/>
                </a:solidFill>
              </a:defRPr>
            </a:pPr>
            <a:r>
              <a:t>About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355" y="1417638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defRPr sz="2200"/>
            </a:pPr>
            <a:r>
              <a:rPr sz="3600" dirty="0"/>
              <a:t>• The data includes monthly Sales and Profit.</a:t>
            </a:r>
            <a:br>
              <a:rPr sz="3600" dirty="0"/>
            </a:br>
            <a:r>
              <a:rPr sz="3600" dirty="0"/>
              <a:t>• Covers full year from Jan to Dec.</a:t>
            </a:r>
            <a:br>
              <a:rPr sz="3600" dirty="0"/>
            </a:br>
            <a:r>
              <a:rPr sz="3600" dirty="0"/>
              <a:t>• Helps understand growth, decline, and trends.</a:t>
            </a:r>
            <a:br>
              <a:rPr sz="3600" dirty="0"/>
            </a:br>
            <a:r>
              <a:rPr sz="3600" dirty="0"/>
              <a:t>• Useful for planning and business improvement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(Jan–Dec)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28016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66CC"/>
                </a:solidFill>
              </a:defRPr>
            </a:pPr>
            <a:r>
              <a:rPr dirty="0"/>
              <a:t>Sales Trend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200"/>
            </a:pPr>
            <a:r>
              <a:rPr sz="3600" dirty="0"/>
              <a:t>• Highest sales: Dec (</a:t>
            </a:r>
            <a:r>
              <a:rPr lang="en-US" sz="3600" dirty="0"/>
              <a:t>$</a:t>
            </a:r>
            <a:r>
              <a:rPr sz="3600" dirty="0"/>
              <a:t>241464).</a:t>
            </a:r>
            <a:br>
              <a:rPr sz="3600" dirty="0"/>
            </a:br>
            <a:r>
              <a:rPr sz="3600" dirty="0"/>
              <a:t>• Lowest sales: Feb (</a:t>
            </a:r>
            <a:r>
              <a:rPr lang="en-US" sz="3600" dirty="0"/>
              <a:t>$</a:t>
            </a:r>
            <a:r>
              <a:rPr sz="3600" dirty="0"/>
              <a:t>59640).</a:t>
            </a:r>
            <a:br>
              <a:rPr sz="3600" dirty="0"/>
            </a:br>
            <a:r>
              <a:rPr sz="3600" dirty="0"/>
              <a:t>• Average monthly sales: </a:t>
            </a:r>
            <a:r>
              <a:rPr lang="en-US" sz="3600" dirty="0"/>
              <a:t>$</a:t>
            </a:r>
            <a:r>
              <a:rPr sz="3600" dirty="0"/>
              <a:t>160741.</a:t>
            </a:r>
            <a:br>
              <a:rPr sz="3600" dirty="0"/>
            </a:br>
            <a:r>
              <a:rPr sz="3600" dirty="0"/>
              <a:t>• Sales rise during mid‑year and peak at year end.</a:t>
            </a:r>
            <a:br>
              <a:rPr sz="3600" dirty="0"/>
            </a:br>
            <a:r>
              <a:rPr sz="3600" dirty="0"/>
              <a:t>• Sales dip slightly at start of the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Profit (Jan–Dec)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28016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66CC"/>
                </a:solidFill>
              </a:defRPr>
            </a:pPr>
            <a:r>
              <a:rPr dirty="0"/>
              <a:t>Profit Trend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200"/>
            </a:pPr>
            <a:r>
              <a:rPr sz="3600" dirty="0"/>
              <a:t>• Highest profit: Dec (</a:t>
            </a:r>
            <a:r>
              <a:rPr lang="en-US" sz="3600" dirty="0"/>
              <a:t>$</a:t>
            </a:r>
            <a:r>
              <a:rPr sz="3600" dirty="0"/>
              <a:t>34886).</a:t>
            </a:r>
            <a:br>
              <a:rPr sz="3600" dirty="0"/>
            </a:br>
            <a:r>
              <a:rPr sz="3600" dirty="0"/>
              <a:t>• Lowest profit: Jan (</a:t>
            </a:r>
            <a:r>
              <a:rPr lang="en-US" sz="3600" dirty="0"/>
              <a:t>$</a:t>
            </a:r>
            <a:r>
              <a:rPr sz="3600" dirty="0"/>
              <a:t>9134).</a:t>
            </a:r>
            <a:br>
              <a:rPr sz="3600" dirty="0"/>
            </a:br>
            <a:r>
              <a:rPr sz="3600" dirty="0"/>
              <a:t>• Average monthly profit: </a:t>
            </a:r>
            <a:r>
              <a:rPr lang="en-US" sz="3600" dirty="0"/>
              <a:t>$</a:t>
            </a:r>
            <a:r>
              <a:rPr sz="3600" dirty="0"/>
              <a:t>20663.</a:t>
            </a:r>
            <a:br>
              <a:rPr sz="3600" dirty="0"/>
            </a:br>
            <a:r>
              <a:rPr sz="3600" dirty="0"/>
              <a:t>• Profit grows when sales increase.</a:t>
            </a:r>
            <a:br>
              <a:rPr sz="3600" dirty="0"/>
            </a:br>
            <a:r>
              <a:rPr sz="3600" dirty="0"/>
              <a:t>• February profit is lowest due to low sales.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vs Profit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28016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66CC"/>
                </a:solidFill>
              </a:defRPr>
            </a:pPr>
            <a:r>
              <a:t>Sales vs Profit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2200"/>
            </a:pPr>
            <a:r>
              <a:rPr sz="3600" dirty="0"/>
              <a:t>• Sales and profit usually move together.</a:t>
            </a:r>
            <a:br>
              <a:rPr sz="3600" dirty="0"/>
            </a:br>
            <a:r>
              <a:rPr sz="3600" dirty="0"/>
              <a:t>• When sales go up, profit also increases.</a:t>
            </a:r>
            <a:br>
              <a:rPr sz="3600" dirty="0"/>
            </a:br>
            <a:r>
              <a:rPr sz="3600" dirty="0"/>
              <a:t>• End‑year months (Nov–Dec) show strong performance.</a:t>
            </a:r>
            <a:br>
              <a:rPr sz="3600" dirty="0"/>
            </a:br>
            <a:r>
              <a:rPr sz="3600" dirty="0"/>
              <a:t>• Early‑year months show weaker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66CC"/>
                </a:solidFill>
              </a:defRPr>
            </a:pPr>
            <a:r>
              <a:t>Best &amp; Weak Months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rPr sz="3600" dirty="0"/>
              <a:t>• Best Sales Month: Dec.</a:t>
            </a:r>
            <a:br>
              <a:rPr sz="3600" dirty="0"/>
            </a:br>
            <a:r>
              <a:rPr sz="3600" dirty="0"/>
              <a:t>• Best Profit Month: Dec.</a:t>
            </a:r>
            <a:br>
              <a:rPr sz="3600" dirty="0"/>
            </a:br>
            <a:r>
              <a:rPr sz="3600" dirty="0"/>
              <a:t>• Weakest Sales Month: Feb.</a:t>
            </a:r>
            <a:br>
              <a:rPr sz="3600" dirty="0"/>
            </a:br>
            <a:r>
              <a:rPr sz="3600" dirty="0"/>
              <a:t>• Weakest Profit Month: Jan.</a:t>
            </a:r>
            <a:br>
              <a:rPr sz="3600" dirty="0"/>
            </a:br>
            <a:r>
              <a:rPr sz="3600" dirty="0"/>
              <a:t>• Shows where improvement is needed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66CC"/>
                </a:solidFill>
              </a:defRPr>
            </a:pPr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 sz="2200"/>
            </a:pPr>
            <a:r>
              <a:rPr sz="8400" dirty="0"/>
              <a:t>• Business grows strongly at year‑end.</a:t>
            </a:r>
            <a:br>
              <a:rPr sz="8400" dirty="0"/>
            </a:br>
            <a:r>
              <a:rPr sz="8400" dirty="0"/>
              <a:t>• Mid‑year performance is stable.</a:t>
            </a:r>
            <a:br>
              <a:rPr sz="8400" dirty="0"/>
            </a:br>
            <a:r>
              <a:rPr sz="8400" dirty="0"/>
              <a:t>• Feb needs focus due to low sales and profit.</a:t>
            </a:r>
            <a:br>
              <a:rPr sz="8400" dirty="0"/>
            </a:br>
            <a:r>
              <a:rPr sz="8400" dirty="0"/>
              <a:t>• Charts clearly show seasonal demand trends.</a:t>
            </a:r>
            <a:endParaRPr lang="en-US" sz="8400" dirty="0"/>
          </a:p>
          <a:p>
            <a:pPr marL="0" indent="0">
              <a:buNone/>
              <a:defRPr sz="2200"/>
            </a:pPr>
            <a:endParaRPr lang="en-IN" sz="8400" dirty="0"/>
          </a:p>
          <a:p>
            <a:pPr marL="0" indent="0">
              <a:buNone/>
              <a:defRPr sz="2200"/>
            </a:pPr>
            <a:endParaRPr lang="en-US" sz="4400" b="1" dirty="0"/>
          </a:p>
          <a:p>
            <a:pPr>
              <a:defRPr sz="2200"/>
            </a:pPr>
            <a:endParaRPr lang="en-US" sz="4000" b="1" dirty="0"/>
          </a:p>
          <a:p>
            <a:pPr>
              <a:defRPr sz="2200"/>
            </a:pPr>
            <a:endParaRPr lang="en-US" dirty="0"/>
          </a:p>
          <a:p>
            <a:pPr marL="0" indent="0">
              <a:buNone/>
              <a:defRPr sz="2200"/>
            </a:pPr>
            <a:r>
              <a:rPr lang="en-IN" sz="4400" b="1" dirty="0"/>
              <a:t>  </a:t>
            </a:r>
            <a:endParaRPr sz="44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 sz="2200"/>
            </a:pPr>
            <a:r>
              <a:rPr sz="3600" dirty="0"/>
              <a:t>• The data helps understand what worked well.</a:t>
            </a:r>
            <a:br>
              <a:rPr sz="3600" dirty="0"/>
            </a:br>
            <a:r>
              <a:rPr sz="3600" dirty="0"/>
              <a:t>• Shows months that need more attention.</a:t>
            </a:r>
            <a:br>
              <a:rPr sz="3600" dirty="0"/>
            </a:br>
            <a:r>
              <a:rPr sz="3600" dirty="0"/>
              <a:t>• Helps in planning stock and sales strategy.</a:t>
            </a:r>
            <a:br>
              <a:rPr sz="3600" dirty="0"/>
            </a:br>
            <a:r>
              <a:rPr sz="3600" dirty="0"/>
              <a:t>• Simple dashboard for quick decision‑making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9864C-1403-5F2B-93E3-40A662D08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26" y="1130710"/>
            <a:ext cx="6892414" cy="3382296"/>
          </a:xfrm>
        </p:spPr>
        <p:txBody>
          <a:bodyPr/>
          <a:lstStyle/>
          <a:p>
            <a:r>
              <a:rPr lang="en-US" dirty="0"/>
              <a:t>Thank you for your time…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8860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27</TotalTime>
  <Words>357</Words>
  <Application>Microsoft Office PowerPoint</Application>
  <PresentationFormat>On-screen Show (4:3)</PresentationFormat>
  <Paragraphs>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Impact</vt:lpstr>
      <vt:lpstr>Main Event</vt:lpstr>
      <vt:lpstr>Sales &amp; Profit Dashboard – Detailed Insights</vt:lpstr>
      <vt:lpstr>About the Data</vt:lpstr>
      <vt:lpstr>Monthly Sales (Jan–Dec)</vt:lpstr>
      <vt:lpstr>Sales Trend Explained</vt:lpstr>
      <vt:lpstr>Monthly Profit (Jan–Dec)</vt:lpstr>
      <vt:lpstr>Profit Trend Explained</vt:lpstr>
      <vt:lpstr>Sales vs Profit Comparison</vt:lpstr>
      <vt:lpstr>Sales vs Profit Explained</vt:lpstr>
      <vt:lpstr>Best &amp; Weak Months</vt:lpstr>
      <vt:lpstr>Key Insights</vt:lpstr>
      <vt:lpstr>Conclusion</vt:lpstr>
      <vt:lpstr>Thank you for your time…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Harsh</dc:creator>
  <cp:keywords/>
  <dc:description>generated using python-pptx</dc:description>
  <cp:lastModifiedBy>harshvarma25032005@outlook.com</cp:lastModifiedBy>
  <cp:revision>2</cp:revision>
  <dcterms:created xsi:type="dcterms:W3CDTF">2013-01-27T09:14:16Z</dcterms:created>
  <dcterms:modified xsi:type="dcterms:W3CDTF">2025-11-30T09:44:33Z</dcterms:modified>
  <cp:category/>
</cp:coreProperties>
</file>